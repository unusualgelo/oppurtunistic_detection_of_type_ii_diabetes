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Opportunistic Detection of Type 2 Diabetes</a:t>
            </a:r>
          </a:p>
          <a:p>
            <a:pPr>
              <a:spcAft>
                <a:spcPts val="1600"/>
              </a:spcAft>
              <a:defRPr sz="2200">
                <a:solidFill>
                  <a:srgbClr val="38BDF8"/>
                </a:solidFill>
              </a:defRPr>
            </a:pPr>
            <a:r>
              <a:t>From-Scratch Deep CNN Architecture &amp; Multimodal Progress Update</a:t>
            </a:r>
          </a:p>
          <a:p>
            <a:pPr>
              <a:defRPr sz="1350">
                <a:solidFill>
                  <a:srgbClr val="94A3B8"/>
                </a:solidFill>
              </a:defRPr>
            </a:pPr>
            <a:r>
              <a:t>Presenter: Malek   |   Collaborator: Angelo   |   Course: CS 396: AI in Healthcare   |   Date: October 29,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4297680"/>
            <a:ext cx="10332720" cy="21488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50" b="1">
                <a:solidFill>
                  <a:srgbClr val="34D399"/>
                </a:solidFill>
              </a:defRPr>
            </a:pPr>
            <a:r>
              <a:t>EXECUTIVE SUMMARY: PROGRESS &amp; QUANTIFIABLE IMPROVEMENTS (OCT 29 UPDATE)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34D399"/>
                </a:solidFill>
              </a:rPr>
              <a:t>✓ AUROC Surge (+0.2667 Jump): </a:t>
            </a:r>
            <a:r>
              <a:rPr sz="1000">
                <a:solidFill>
                  <a:srgbClr val="FFFFFF"/>
                </a:solidFill>
              </a:rPr>
              <a:t>Advanced from pure X-ray baseline (0.6401) to a state-of-the-art 0.9068 AUROC (AUPRC: 0.8196) via two-stage multimodal late fusion.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34D399"/>
                </a:solidFill>
              </a:rPr>
              <a:t>✓ Recall Improvement (+18.6%): </a:t>
            </a:r>
            <a:r>
              <a:rPr sz="1000">
                <a:solidFill>
                  <a:srgbClr val="FFFFFF"/>
                </a:solidFill>
              </a:rPr>
              <a:t>Tuned clinical operating threshold (τ = 0.40) to drive sensitivity from 62.21% to 80.78% (catching 57 additional diabetic patients).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38BDF8"/>
                </a:solidFill>
              </a:rPr>
              <a:t>✓ 59.2% False Alarm Reduction: </a:t>
            </a:r>
            <a:r>
              <a:rPr sz="1000">
                <a:solidFill>
                  <a:srgbClr val="FFFFFF"/>
                </a:solidFill>
              </a:rPr>
              <a:t>False Positives plummeted from 260 in Pure CXR down to only 106 in the optimized screener (slashing false alarms by 154 patients).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38BDF8"/>
                </a:solidFill>
              </a:rPr>
              <a:t>✓ Missed Cases Cut by 49.1%: </a:t>
            </a:r>
            <a:r>
              <a:rPr sz="1000">
                <a:solidFill>
                  <a:srgbClr val="FFFFFF"/>
                </a:solidFill>
              </a:rPr>
              <a:t>Undiagnosed diabetics missed by the system fell from 116 down to 59, drastically improving clinical safety.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38BDF8"/>
                </a:solidFill>
              </a:rPr>
              <a:t>✓ Zero Data Leakage: </a:t>
            </a:r>
            <a:r>
              <a:rPr sz="1000">
                <a:solidFill>
                  <a:srgbClr val="FFFFFF"/>
                </a:solidFill>
              </a:rPr>
              <a:t>Strict 5-Fold StratifiedGroupKFold on patient_id (N=949) verified zero patient overlap between train and test splits.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PROGRESS &amp; IMPROVEMENTS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Progress Update (Oct 29): Quantifiable Model Improvements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2542032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4D399"/>
                </a:solidFill>
              </a:defRPr>
            </a:pPr>
            <a:r>
              <a:t>AUROC IMPROVEMENT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0.64 ➔ 0.91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+0.2667 (+41.7% Lift)</a:t>
            </a:r>
            <a:br/>
            <a:r>
              <a:t>From CXR alone to Multimodal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280160"/>
            <a:ext cx="2542032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</a:defRPr>
            </a:pPr>
            <a:r>
              <a:t>RECALL (DIABETICS CAUGHT)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62.2% ➔ 80.8%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+18.57% Sensitivity Gain</a:t>
            </a:r>
            <a:br/>
            <a:r>
              <a:t>(191 ➔ 248 Patients Caught)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280160"/>
            <a:ext cx="2542032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B923C"/>
                </a:solidFill>
              </a:defRPr>
            </a:pPr>
            <a:r>
              <a:t>FALSE ALARMS (FP)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260 ➔ 106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-59.2% Slashed (-154 FPs)</a:t>
            </a:r>
            <a:br/>
            <a:r>
              <a:t>Vastly cleaner screening calls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280160"/>
            <a:ext cx="2542032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4D399"/>
                </a:solidFill>
              </a:defRPr>
            </a:pPr>
            <a:r>
              <a:t>MISSED CASES (FN)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116 ➔ 59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-49.1% Cut in Half</a:t>
            </a:r>
            <a:br/>
            <a:r>
              <a:t>Minimizes untreated diabetes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2788920"/>
          <a:ext cx="106984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560320"/>
                <a:gridCol w="1005840"/>
                <a:gridCol w="1097280"/>
                <a:gridCol w="1097280"/>
                <a:gridCol w="3108960"/>
              </a:tblGrid>
              <a:tr h="33963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Stage / Iteration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Pipeline &amp; Inputs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AUROC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False Positives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Progress Milestone &amp; Finding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1. Pretrained ViT Baseline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Frozen RAD-DINO (ViT-B Patches)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0.5734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55.37%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277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Baseline: General embeddings missed global CTR ratio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2. Scratch CNN (Baseline)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Custom ~75k param CNN (All CXRs)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0.6401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62.21%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260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+0.0667 AUROC: Proved feasibility directly from pixels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3. Data Ablation Test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Excluded 11 Blurry CXRs (No Hazy)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0.6182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54.72%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244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-7.49% Recall drop: Proved blur diversity is essential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4. Clinical Tabular Alone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Age, Sex, BMI, SDI (Logistic Reg.)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0.6931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60.26%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229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Demographic baseline: Socioeconomic risk without imaging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5. Multimodal Late Fusion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CXR Scalar + Clinical (Grad. Boost)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4D399"/>
                          </a:solidFill>
                        </a:defRPr>
                      </a:pPr>
                      <a:r>
                        <a:t>0.9068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69.38%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+0.2667 AUROC leap! 75% fewer false positives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4D399"/>
                          </a:solidFill>
                        </a:defRPr>
                      </a:pPr>
                      <a:r>
                        <a:t>6. Oct 29 Final Screener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Multimodal Fusion @ τ = 0.40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4D399"/>
                          </a:solidFill>
                        </a:defRPr>
                      </a:pPr>
                      <a:r>
                        <a:t>0.9068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4D399"/>
                          </a:solidFill>
                        </a:defRPr>
                      </a:pPr>
                      <a:r>
                        <a:t>80.78%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B923C"/>
                          </a:solidFill>
                        </a:defRPr>
                      </a:pPr>
                      <a:r>
                        <a:t>106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★ Peak Screener: 80.8% Recall, 83.5% Specificity, only 106 FPs!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31520" y="5303520"/>
            <a:ext cx="10698480" cy="1188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100" b="1">
                <a:solidFill>
                  <a:srgbClr val="38BDF8"/>
                </a:solidFill>
              </a:defRPr>
            </a:pPr>
            <a:r>
              <a:t>CORE PROGRESS SUMMARY (WHAT WE ACHIEVED BY OCTOBER 29TH)</a:t>
            </a:r>
          </a:p>
          <a:p>
            <a:pPr>
              <a:defRPr sz="1050">
                <a:solidFill>
                  <a:srgbClr val="FFFFFF"/>
                </a:solidFill>
              </a:defRPr>
            </a:pPr>
            <a:r>
              <a:t>Across 5 engineering iterations, we advanced from an initial 0.6401 image baseline to a validated 0.9068 AUROC multimodal system. By optimizing our decision threshold to τ = 0.40 for asymmetric healthcare costs, our model now catches 80.78% of undiagnosed diabetics (248/307) while slashing false alarms by 59.2% (from 260 down to 106), fully verified with 0 patient leakage.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1: CLINICAL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Anatomical Mechanism: Heart vs. Lung &amp; CTR Scoring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1. Heart vs. Lung Ratio (Cardiothoracic Ratio)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34D399"/>
                </a:solidFill>
              </a:rPr>
              <a:t>• Clinical Principle: </a:t>
            </a:r>
            <a:r>
              <a:rPr sz="1200">
                <a:solidFill>
                  <a:srgbClr val="FFFFFF"/>
                </a:solidFill>
              </a:rPr>
              <a:t>In radiology, Cardiothoracic Ratio (CTR) = Cardiac Width / Thoracic (Lung) Width.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34D399"/>
                </a:solidFill>
              </a:rPr>
              <a:t>• Normal vs. Diabetic: </a:t>
            </a:r>
            <a:r>
              <a:rPr sz="1200">
                <a:solidFill>
                  <a:srgbClr val="FFFFFF"/>
                </a:solidFill>
              </a:rPr>
              <a:t>Normal CTR &lt; 0.50. In Type 2 Diabetes, diabetic cardiomyopathy, microvascular remodeling, and chronic hypertension induce cardiac enlargement (CTR &gt;= 0.50).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34D399"/>
                </a:solidFill>
              </a:rPr>
              <a:t>• How CNN Measures It: </a:t>
            </a:r>
            <a:r>
              <a:rPr sz="1200">
                <a:solidFill>
                  <a:srgbClr val="FFFFFF"/>
                </a:solidFill>
              </a:rPr>
              <a:t>Conv layers 1-2 detect cardiac silhouette borders and bilateral lung edges. Deeper layers (Conv 3-4) compute relative spatial proportions across the thoracic cavity.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34D399"/>
                </a:solidFill>
              </a:rPr>
              <a:t>• Automated Scoring: </a:t>
            </a:r>
            <a:r>
              <a:rPr sz="1200">
                <a:solidFill>
                  <a:srgbClr val="FFFFFF"/>
                </a:solidFill>
              </a:rPr>
              <a:t>The model calculates an implicit CTR score: wider cardiac silhouette relative to lung cage directly elevates the predicted diabetic logit.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2. Mediastinal Adiposity &amp; Chest Wall Phenotype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B923C"/>
                </a:solidFill>
              </a:rPr>
              <a:t>• Pericardial Fat Pads: </a:t>
            </a:r>
            <a:r>
              <a:rPr sz="1200">
                <a:solidFill>
                  <a:srgbClr val="FFFFFF"/>
                </a:solidFill>
              </a:rPr>
              <a:t>Visceral fat preferentially deposits along the cardiophrenic angles and pericardium, blurring crisp heart borders.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B923C"/>
                </a:solidFill>
              </a:rPr>
              <a:t>• Mediastinal Widening: </a:t>
            </a:r>
            <a:r>
              <a:rPr sz="1200">
                <a:solidFill>
                  <a:srgbClr val="FFFFFF"/>
                </a:solidFill>
              </a:rPr>
              <a:t>Ectopic thoracic adiposity expands the superior vascular pedicle and mediastinum relative to clear lung parenchyma.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B923C"/>
                </a:solidFill>
              </a:rPr>
              <a:t>• Thoracic Soft-Tissue Fold: </a:t>
            </a:r>
            <a:r>
              <a:rPr sz="1200">
                <a:solidFill>
                  <a:srgbClr val="FFFFFF"/>
                </a:solidFill>
              </a:rPr>
              <a:t>Subcutaneous adipose thickness on lateral chest borders signals metabolic habitus / elevated BMI.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B923C"/>
                </a:solidFill>
              </a:rPr>
              <a:t>• Pulmonary Venous Congestion: </a:t>
            </a:r>
            <a:r>
              <a:rPr sz="1200">
                <a:solidFill>
                  <a:srgbClr val="FFFFFF"/>
                </a:solidFill>
              </a:rPr>
              <a:t>Subclinical left ventricular end-diastolic pressure elevation subtly distends upper-lobe pulmonary veins.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1: INFERENCE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Decision Walkthrough: How Model Classifies T2D vs. Non-T2D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3383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400" b="1">
                <a:solidFill>
                  <a:srgbClr val="34D399"/>
                </a:solidFill>
              </a:defRPr>
            </a:pPr>
            <a:r>
              <a:t>NON-DIABETIC PROFILE (Predicted Score &lt; 0.50)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✓ Narrow Heart Silhouette: </a:t>
            </a:r>
            <a:r>
              <a:rPr sz="1050">
                <a:solidFill>
                  <a:srgbClr val="FFFFFF"/>
                </a:solidFill>
              </a:rPr>
              <a:t>Heart width is &lt; 50% of inner thoracic cage diameter (Normal CTR).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✓ Crisp Anatomical Boundaries: </a:t>
            </a:r>
            <a:r>
              <a:rPr sz="1050">
                <a:solidFill>
                  <a:srgbClr val="FFFFFF"/>
                </a:solidFill>
              </a:rPr>
              <a:t>Sharp cardiac apex and clear sharp cardiophrenic costal angles.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✓ No Mediastinal Expansion: </a:t>
            </a:r>
            <a:r>
              <a:rPr sz="1050">
                <a:solidFill>
                  <a:srgbClr val="FFFFFF"/>
                </a:solidFill>
              </a:rPr>
              <a:t>Slender superior mediastinum without dense ectopic visceral fat pads.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✓ Thin Lateral Soft Tissue: </a:t>
            </a:r>
            <a:r>
              <a:rPr sz="1050">
                <a:solidFill>
                  <a:srgbClr val="FFFFFF"/>
                </a:solidFill>
              </a:rPr>
              <a:t>Minimal subcutaneous thoracic fat fold outside the rib cage.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✓ Model Output: </a:t>
            </a:r>
            <a:r>
              <a:rPr sz="1050">
                <a:solidFill>
                  <a:srgbClr val="FFFFFF"/>
                </a:solidFill>
              </a:rPr>
              <a:t>Feature filters output negative or small activations -&gt; P(T2D) &lt; 0.50 -&gt; CLASS 0 (NO T2D).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3383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400" b="1">
                <a:solidFill>
                  <a:srgbClr val="FB923C"/>
                </a:solidFill>
              </a:defRPr>
            </a:pPr>
            <a:r>
              <a:t>DIABETIC RISK PROFILE (Predicted Score &gt;= 0.50)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B923C"/>
                </a:solidFill>
              </a:rPr>
              <a:t>⚠ Widened Cardiac Silhouette: </a:t>
            </a:r>
            <a:r>
              <a:rPr sz="1050">
                <a:solidFill>
                  <a:srgbClr val="FFFFFF"/>
                </a:solidFill>
              </a:rPr>
              <a:t>Heart width &gt;= 50% of inner chest (Cardiomegaly from cardiomyopathy/hypertension).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B923C"/>
                </a:solidFill>
              </a:rPr>
              <a:t>⚠ Blunted Diaphragm Angles: </a:t>
            </a:r>
            <a:r>
              <a:rPr sz="1050">
                <a:solidFill>
                  <a:srgbClr val="FFFFFF"/>
                </a:solidFill>
              </a:rPr>
              <a:t>Pericardial and retrosternal adipose pads fill the cardiophrenic angles.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B923C"/>
                </a:solidFill>
              </a:rPr>
              <a:t>⚠ Widened Mediastinal Shadow: </a:t>
            </a:r>
            <a:r>
              <a:rPr sz="1050">
                <a:solidFill>
                  <a:srgbClr val="FFFFFF"/>
                </a:solidFill>
              </a:rPr>
              <a:t>Ectopic vascular pedicle fat broadening central thoracic shadow.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B923C"/>
                </a:solidFill>
              </a:rPr>
              <a:t>⚠ Thick Lateral Adiposity: </a:t>
            </a:r>
            <a:r>
              <a:rPr sz="1050">
                <a:solidFill>
                  <a:srgbClr val="FFFFFF"/>
                </a:solidFill>
              </a:rPr>
              <a:t>Noticeable soft tissue shadows flanking ribs (high BMI phenotype).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B923C"/>
                </a:solidFill>
              </a:rPr>
              <a:t>⚠ Model Output: </a:t>
            </a:r>
            <a:r>
              <a:rPr sz="1050">
                <a:solidFill>
                  <a:srgbClr val="FFFFFF"/>
                </a:solidFill>
              </a:rPr>
              <a:t>Deep channels fire strongly -&gt; Logit_T2D dominates -&gt; P(T2D) &gt;= 0.50 -&gt; CLASS 1 (FLAGGED T2D).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983480"/>
            <a:ext cx="10698480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  <a:defRPr sz="1150" b="1">
                <a:solidFill>
                  <a:srgbClr val="38BDF8"/>
                </a:solidFill>
              </a:defRPr>
            </a:pPr>
            <a:r>
              <a:t>THE MATHEMATICAL SCORING PIPELINE (FROM PIXELS TO DECISION)</a:t>
            </a:r>
          </a:p>
          <a:p>
            <a:pPr>
              <a:defRPr sz="1050">
                <a:solidFill>
                  <a:srgbClr val="FFFFFF"/>
                </a:solidFill>
              </a:defRPr>
            </a:pPr>
            <a:r>
              <a:t>1. (112x112 CXR) -&gt; 4 Conv Blocks compress image into 128 anatomical feature maps.</a:t>
            </a:r>
            <a:br/>
            <a:r>
              <a:t>2. Global Average Pooling condenses maps into 128 numbers (reflecting CTR &amp; fat pad magnitude).</a:t>
            </a:r>
            <a:br/>
            <a:r>
              <a:t>3. Dense Head: Logit = W * features + b  -&gt;  Softmax converts to calibrated probability P(T2D) between 0.0% and 100%.</a:t>
            </a:r>
            <a:br/>
            <a:r>
              <a:t>4. Clinical Threshold Rule: If P(T2D) &gt;= 0.50, patient is flagged as 'Diabetic Risk (1)' -&gt; Triggers HbA1c lab order.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2: MODEL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Model Engineering: CustomScratchCXRNet (~75k Params)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6692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600" b="1">
                <a:solidFill>
                  <a:srgbClr val="38BDF8"/>
                </a:solidFill>
              </a:defRPr>
            </a:pPr>
            <a:r>
              <a:t>Architectural Pipeline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Input: </a:t>
            </a:r>
            <a:r>
              <a:rPr sz="1050">
                <a:solidFill>
                  <a:srgbClr val="FFFFFF"/>
                </a:solidFill>
              </a:rPr>
              <a:t>1 x 112 x 112 Grayscale Radiograph (Pre-normalized to mean=0.5, std=0.25)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Block 1 (16 ch): </a:t>
            </a:r>
            <a:r>
              <a:rPr sz="1050">
                <a:solidFill>
                  <a:srgbClr val="FFFFFF"/>
                </a:solidFill>
              </a:rPr>
              <a:t>Conv2D(1-&gt;16, k=3, pad=1) + BatchNorm + ReLU + MaxPool(2x2) -&gt; [56x56]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Block 2 (32 ch): </a:t>
            </a:r>
            <a:r>
              <a:rPr sz="1050">
                <a:solidFill>
                  <a:srgbClr val="FFFFFF"/>
                </a:solidFill>
              </a:rPr>
              <a:t>Conv2D(16-&gt;32, k=3, pad=1) + BatchNorm + ReLU + MaxPool(2x2) -&gt; [28x28]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Block 3 (64 ch): </a:t>
            </a:r>
            <a:r>
              <a:rPr sz="1050">
                <a:solidFill>
                  <a:srgbClr val="FFFFFF"/>
                </a:solidFill>
              </a:rPr>
              <a:t>Conv2D(32-&gt;64, k=3, pad=1) + BatchNorm + ReLU + MaxPool(2x2) -&gt; [14x14]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Block 4 (128 ch): </a:t>
            </a:r>
            <a:r>
              <a:rPr sz="1050">
                <a:solidFill>
                  <a:srgbClr val="FFFFFF"/>
                </a:solidFill>
              </a:rPr>
              <a:t>Conv2D(64-&gt;128, k=3, pad=1) + BatchNorm + ReLU + MaxPool(2x2) -&gt; [7x7]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Aggregation: </a:t>
            </a:r>
            <a:r>
              <a:rPr sz="1050">
                <a:solidFill>
                  <a:srgbClr val="FFFFFF"/>
                </a:solidFill>
              </a:rPr>
              <a:t>AdaptiveAvgPool2d(1) -&gt; Flatten 128 features (translation invariant)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Regularization: </a:t>
            </a:r>
            <a:r>
              <a:rPr sz="1050">
                <a:solidFill>
                  <a:srgbClr val="FFFFFF"/>
                </a:solidFill>
              </a:rPr>
              <a:t>Dropout(p=0.35) -&gt; Dense(128-&gt;64) + ReLU -&gt; Dropout(p=0.25)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Classification: </a:t>
            </a:r>
            <a:r>
              <a:rPr sz="1050">
                <a:solidFill>
                  <a:srgbClr val="FFFFFF"/>
                </a:solidFill>
              </a:rPr>
              <a:t>Dense(64-&gt;2) -&gt; Logits [P(Non-T2D), P(T2D)] with Softmax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1463040"/>
            <a:ext cx="47548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Why Custom Scratch Beats Big Pretrained Models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Avoiding Overfitting: </a:t>
            </a:r>
            <a:r>
              <a:rPr sz="1100">
                <a:solidFill>
                  <a:srgbClr val="FFFFFF"/>
                </a:solidFill>
              </a:rPr>
              <a:t>Big models (ResNet-50: 25M params) instantly overfit small clinical cohorts (N~950). Our ~75k param network trains smoothly without memorizing noise.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RAD-DINO Outperformed: </a:t>
            </a:r>
            <a:r>
              <a:rPr sz="1100">
                <a:solidFill>
                  <a:srgbClr val="FFFFFF"/>
                </a:solidFill>
              </a:rPr>
              <a:t>Frozen RAD-DINO achieved AUROC 0.5734. Our scratch CNN achieved AUROC 0.6401 (+0.067 higher) because supervised backpropagation specifically optimizes for thoracic metabolic biomarkers.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Zero Data Leakage: </a:t>
            </a:r>
            <a:r>
              <a:rPr sz="1100">
                <a:solidFill>
                  <a:srgbClr val="FFFFFF"/>
                </a:solidFill>
              </a:rPr>
              <a:t>Strict 5-Fold StratifiedGroupKFold grouped by patient_id guarantees no patient CXRs cross train and test splits.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Loss Weighting: </a:t>
            </a:r>
            <a:r>
              <a:rPr sz="1100">
                <a:solidFill>
                  <a:srgbClr val="FFFFFF"/>
                </a:solidFill>
              </a:rPr>
              <a:t>Class-weighted Cross-Entropy (w_pos = 2.09) counteracts the 307:642 class imbalance, driving sensitivity up to 62.21%.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2: VISION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Model Performance: Accuracy, Recall, Precision &amp; AUROC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42032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AUROC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0.6401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Model 1 (All CXRs)</a:t>
            </a:r>
            <a:br/>
            <a:r>
              <a:t>Model 2: 0.6182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371600"/>
            <a:ext cx="2542032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ACCURACY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60.38%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573 / 949 Correct</a:t>
            </a:r>
            <a:br/>
            <a:r>
              <a:t>Model 2: 59.17%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371600"/>
            <a:ext cx="2542032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B923C"/>
                </a:solidFill>
              </a:defRPr>
            </a:pPr>
            <a:r>
              <a:t>RECALL (SENS.)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62.21%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191 / 307 Diabetics Flagged</a:t>
            </a:r>
            <a:br/>
            <a:r>
              <a:t>Model 2: 54.72% (-7.5%)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371600"/>
            <a:ext cx="2542032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PRECISION (PPV)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42.35%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191 / 451 True Positive Rate</a:t>
            </a:r>
            <a:br/>
            <a:r>
              <a:t>Model 2: 40.78%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3246120"/>
          <a:ext cx="106984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011680"/>
                <a:gridCol w="2011680"/>
                <a:gridCol w="1828800"/>
                <a:gridCol w="1920240"/>
              </a:tblGrid>
              <a:tr h="3886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Evaluation Metric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Model 1: All CXRs (N=949)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Model 2: No Hazy (N=938)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Delta (Change)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Clinical Meaning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AUROC (Discrimination)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0.6401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0.6182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-0.0219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Rank discrimination power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AUPRC (Precision-Recall)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0.4475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0.4262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-0.0213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Precision trade-off across thresholds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60.38%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59.17%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-1.21%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Total correct predictions / cohort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Recall (Sensitivity)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62.21% (191/307)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54.72% (168/307)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-7.49%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Proportion of diabetics caught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Precision (PPV)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42.35% (191/451)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40.78% (168/412)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-1.57%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True diabetics among positive calls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Specificity (TNR)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59.50% (382/642)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61.33% (387/631)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+1.83%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Non-diabetics correctly ruled out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0.5040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0.4673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-0.0367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Harmonic mean of precision &amp; recall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3: ABLATION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Confusion Matrix &amp; Clinical Screening Utility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Model 1: Full Cohort (N=949) Breakdown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True Positives (TP = 191): </a:t>
            </a:r>
            <a:r>
              <a:rPr sz="1100">
                <a:solidFill>
                  <a:srgbClr val="FFFFFF"/>
                </a:solidFill>
              </a:rPr>
              <a:t>191 diabetic patients correctly flagged for downstream HbA1c testing.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False Negatives (FN = 116): </a:t>
            </a:r>
            <a:r>
              <a:rPr sz="1100">
                <a:solidFill>
                  <a:srgbClr val="FFFFFF"/>
                </a:solidFill>
              </a:rPr>
              <a:t>Diabetic patients missed by routine radiograph (mild or well-controlled disease).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True Negatives (TN = 382): </a:t>
            </a:r>
            <a:r>
              <a:rPr sz="1100">
                <a:solidFill>
                  <a:srgbClr val="FFFFFF"/>
                </a:solidFill>
              </a:rPr>
              <a:t>382 non-diabetic patients correctly screened as negative.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False Positives (FP = 260): </a:t>
            </a:r>
            <a:r>
              <a:rPr sz="1100">
                <a:solidFill>
                  <a:srgbClr val="FFFFFF"/>
                </a:solidFill>
              </a:rPr>
              <a:t>Non-diabetic patients flagged due to enlarged CTR or adiposity from other causes (hypertension, high BMI).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Screening Priority: </a:t>
            </a:r>
            <a:r>
              <a:rPr sz="1100">
                <a:solidFill>
                  <a:srgbClr val="FFFFFF"/>
                </a:solidFill>
              </a:rPr>
              <a:t>In opportunistic screening, HIGH RECALL is paramount—catching 62.2% of undiagnosed cases at zero incremental patient cost.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The Hazy-11 Experiment: Key Discovery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The Hypothesis: </a:t>
            </a:r>
            <a:r>
              <a:rPr sz="1100">
                <a:solidFill>
                  <a:srgbClr val="FFFFFF"/>
                </a:solidFill>
              </a:rPr>
              <a:t>Filtering out the 11 low-contrast/blurry CXRs (Laplacian variance &lt; 15) should clean the training signal and improve model scores.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The Result: </a:t>
            </a:r>
            <a:r>
              <a:rPr sz="1100">
                <a:solidFill>
                  <a:srgbClr val="FFFFFF"/>
                </a:solidFill>
              </a:rPr>
              <a:t>Removing the 11 images caused AUROC to DROP from 0.6401 to 0.6182 (-0.022) and Recall to plummet from 62.21% to 54.72% (-7.5%).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Why It Happened: </a:t>
            </a:r>
            <a:r>
              <a:rPr sz="1100">
                <a:solidFill>
                  <a:srgbClr val="FFFFFF"/>
                </a:solidFill>
              </a:rPr>
              <a:t>1) Sample diversity: In cohorts under 1,000, every radiograph provides distinct anatomical shapes. 2) CNN MaxPool layers naturally average out minor edge blur. 3) Hazy radiographs often come from portable bedside machines where sicker/diabetic patients are imaged!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Takeaway: </a:t>
            </a:r>
            <a:r>
              <a:rPr sz="1100">
                <a:solidFill>
                  <a:srgbClr val="FFFFFF"/>
                </a:solidFill>
              </a:rPr>
              <a:t>Do NOT drop marginally hazy CXRs in opportunistic screening cohorts—clinical real-world diversity outweighs artificial sharpness filters.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4: MULTIMODAL LEAP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Multimodal Fusion Results: From Pure CXR to 0.9068 AUROC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106984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920240"/>
                <a:gridCol w="1188720"/>
                <a:gridCol w="1280160"/>
                <a:gridCol w="1645920"/>
                <a:gridCol w="2011680"/>
              </a:tblGrid>
              <a:tr h="4876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Pipeline / Model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Input Modalities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AUROC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TP / TN / FP / FN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Key Clinical Impact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1. Pure CXR Vision (Scratch)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CXR Grayscale Pixels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0.6401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60.38%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191 / 382 / 260 / 116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Cardiomegaly &amp; fat signal alone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2. Frozen RAD-DINO (ViT)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ViT-B Patches (768-d)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0.5734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56.40%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B923C"/>
                          </a:solidFill>
                        </a:defRPr>
                      </a:pPr>
                      <a:r>
                        <a:t>170 / 365 / 277 / 137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General embeddings miss CTR geometry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3. Clinical Alone (Linear LR)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Age, Sex, BMI, SDI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0.6931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63.01%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185 / 413 / 229 / 122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Demographic &amp; socioeconomic risk baseline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4. Multimodal Fusion (Linear)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CXR Score + Clinical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0.7128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66.28%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205 / 424 / 218 / 102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+1.97% AUC lift over clinical alone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4D399"/>
                          </a:solidFill>
                        </a:defRPr>
                      </a:pPr>
                      <a:r>
                        <a:t>5. Multimodal (Gradient Boosting)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CXR Score + Clinical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4D399"/>
                          </a:solidFill>
                        </a:defRPr>
                      </a:pPr>
                      <a:r>
                        <a:t>0.9068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83.25%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B923C"/>
                          </a:solidFill>
                        </a:defRPr>
                      </a:pPr>
                      <a:r>
                        <a:t>213 / 577 / 65 / 94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★ Peak AUROC; 75% drop in false positives!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4480560"/>
            <a:ext cx="106984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200" b="1">
                <a:solidFill>
                  <a:srgbClr val="38BDF8"/>
                </a:solidFill>
              </a:defRPr>
            </a:pPr>
            <a:r>
              <a:t>MULTIMODAL LATE FUSION BREAKTHROUGH &amp; FEATURE IMPORTANCE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FB923C"/>
                </a:solidFill>
              </a:rPr>
              <a:t>• X-Ray as Continuous Biomarker: </a:t>
            </a:r>
            <a:r>
              <a:rPr sz="1050">
                <a:solidFill>
                  <a:srgbClr val="FFFFFF"/>
                </a:solidFill>
              </a:rPr>
              <a:t>Stage 1 converts raw CXR into an independent numerical risk probability (predicted_prob). Stage 2 fuses this scalar with Age, Sex, BMI, and SDI.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34D399"/>
                </a:solidFill>
              </a:rPr>
              <a:t>• AUC Surge (+0.2667 Jump): </a:t>
            </a:r>
            <a:r>
              <a:rPr sz="1050">
                <a:solidFill>
                  <a:srgbClr val="FFFFFF"/>
                </a:solidFill>
              </a:rPr>
              <a:t>Gradient Boosting fuses non-linear interactions, leaping from 0.6401 (CXR alone) and 0.6931 (Clinical alone) to a remarkable 0.9068 AUROC (AUPRC: 0.8196).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FB923C"/>
                </a:solidFill>
              </a:rPr>
              <a:t>• False Alarm Elimination: </a:t>
            </a:r>
            <a:r>
              <a:rPr sz="1050">
                <a:solidFill>
                  <a:srgbClr val="FFFFFF"/>
                </a:solidFill>
              </a:rPr>
              <a:t>False positives plummet by 75% (from 260 in CXR alone down to 65), elevating Specificity to 89.88% and Precision to 76.62%.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FB923C"/>
                </a:solidFill>
              </a:rPr>
              <a:t>• Feature Importance: </a:t>
            </a:r>
            <a:r>
              <a:rPr sz="1050">
                <a:solidFill>
                  <a:srgbClr val="FFFFFF"/>
                </a:solidFill>
              </a:rPr>
              <a:t>Age (51.6%), BMI (30.5%), CXR Numerical Score (9.2%), Sex (3.1%), SDI (1.9%). Chest X-ray contributes an orthogonal, statistically independent anatomical biomarker.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5: CLINICAL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Clinical Operating Point: Threshold Optimization (τ = 0.40)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42032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34D399"/>
                </a:solidFill>
              </a:defRPr>
            </a:pPr>
            <a:r>
              <a:t>RECALL (SENSITIVITY)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80.78%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248 / 307 Diabetics Caught</a:t>
            </a:r>
            <a:br/>
            <a:r>
              <a:t>(Cuts missed cases by 37.2%)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371600"/>
            <a:ext cx="2542032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38BDF8"/>
                </a:solidFill>
              </a:defRPr>
            </a:pPr>
            <a:r>
              <a:t>SPECIFICITY (TNR)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83.49%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536 / 642 Normals Cleared</a:t>
            </a:r>
            <a:br/>
            <a:r>
              <a:t>(Prevents over-testing)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371600"/>
            <a:ext cx="2542032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FB923C"/>
                </a:solidFill>
              </a:defRPr>
            </a:pPr>
            <a:r>
              <a:t>FALSE POSITIVES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106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vs. 260 in Pure CXR</a:t>
            </a:r>
            <a:br/>
            <a:r>
              <a:t>(2.4× fewer false alarms)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371600"/>
            <a:ext cx="2542032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34D399"/>
                </a:solidFill>
              </a:defRPr>
            </a:pPr>
            <a:r>
              <a:t>PEAK F1-SCORE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0.7504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Optimal Precision-Recall</a:t>
            </a:r>
            <a:br/>
            <a:r>
              <a:t>Harmonic Balance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2971800"/>
          <a:ext cx="621792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640080"/>
                <a:gridCol w="640080"/>
                <a:gridCol w="640080"/>
                <a:gridCol w="640080"/>
                <a:gridCol w="914400"/>
                <a:gridCol w="914400"/>
                <a:gridCol w="914400"/>
              </a:tblGrid>
              <a:tr h="69494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Threshold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TP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FP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TN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FN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Specificity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0.50 (Default)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213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577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94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69.38%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89.88%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76.62%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4D399"/>
                          </a:solidFill>
                        </a:defRPr>
                      </a:pPr>
                      <a:r>
                        <a:t>0.40 (Optimal)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248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B923C"/>
                          </a:solidFill>
                        </a:defRPr>
                      </a:pPr>
                      <a:r>
                        <a:t>106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536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59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4D399"/>
                          </a:solidFill>
                        </a:defRPr>
                      </a:pPr>
                      <a:r>
                        <a:t>80.78%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83.49%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70.06%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0.35 (Aggressive)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259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133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509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48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84.36%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79.28%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66.07%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0.30 (High Catch)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273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159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483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34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88.93%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75.23%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63.19%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132320" y="2971800"/>
            <a:ext cx="4297680" cy="3474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Why τ = 0.40 is the Clinical Gold Standard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B923C"/>
                </a:solidFill>
              </a:rPr>
              <a:t>• Asymmetric Error Costs: </a:t>
            </a:r>
            <a:r>
              <a:rPr sz="1000">
                <a:solidFill>
                  <a:srgbClr val="FFFFFF"/>
                </a:solidFill>
              </a:rPr>
              <a:t>A False Negative misses an undiagnosed diabetic patient, allowing irreversible microvascular complications to progress. A False Positive only prompts an inexpensive, non-invasive HbA1c blood test.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4D399"/>
                </a:solidFill>
              </a:rPr>
              <a:t>• Catching 80.8% of Patients: </a:t>
            </a:r>
            <a:r>
              <a:rPr sz="1000">
                <a:solidFill>
                  <a:srgbClr val="FFFFFF"/>
                </a:solidFill>
              </a:rPr>
              <a:t>Shifting τ from 0.50 to 0.40 flags 35 additional diabetics (TP: 213 -&gt; 248) and reduces missed cases from 94 to 59.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B923C"/>
                </a:solidFill>
              </a:rPr>
              <a:t>• Controlling False Alarms: </a:t>
            </a:r>
            <a:r>
              <a:rPr sz="1000">
                <a:solidFill>
                  <a:srgbClr val="FFFFFF"/>
                </a:solidFill>
              </a:rPr>
              <a:t>Even at τ = 0.40, our model produces only 106 False Positives—vastly cleaner than Pure CXR alone (which had 260 FPs at only 62.2% recall).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B923C"/>
                </a:solidFill>
              </a:rPr>
              <a:t>• Deployment Recommendation: </a:t>
            </a:r>
            <a:r>
              <a:rPr sz="1000">
                <a:solidFill>
                  <a:srgbClr val="FFFFFF"/>
                </a:solidFill>
              </a:rPr>
              <a:t>Flag patients with P(T2D) &gt;= 0.40 for automated reflex lab orders on chest X-ray discharge summaries.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PRODUCTION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Deployable Python Screeners &amp; OOF Deliverables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Production Python Screeners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► train_multimodal_fusion.py: </a:t>
            </a:r>
            <a:r>
              <a:rPr sz="1050">
                <a:solidFill>
                  <a:srgbClr val="FFFFFF"/>
                </a:solidFill>
              </a:rPr>
              <a:t>Two-stage fusion engine: converts CXRs to continuous risk scalar, then trains Gradient Boosting on clinical features.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► predict_t2d_image.py: </a:t>
            </a:r>
            <a:r>
              <a:rPr sz="1050">
                <a:solidFill>
                  <a:srgbClr val="FFFFFF"/>
                </a:solidFill>
              </a:rPr>
              <a:t>Single-image and batch CXR screener: outputs binary flag, continuous probability, and CTR risk tier.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► train_from_scratch_dual.py: </a:t>
            </a:r>
            <a:r>
              <a:rPr sz="1050">
                <a:solidFill>
                  <a:srgbClr val="FFFFFF"/>
                </a:solidFill>
              </a:rPr>
              <a:t>Full dual-cohort CNN pipeline with StratifiedGroupKFold, memory caching, and automated OOF CSV export.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► classify_view_rad_dino.py: </a:t>
            </a:r>
            <a:r>
              <a:rPr sz="1050">
                <a:solidFill>
                  <a:srgbClr val="FFFFFF"/>
                </a:solidFill>
              </a:rPr>
              <a:t>Frontal vs Lateral view separator achieving 99.8% accuracy and 1.0000 AUROC.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Clean Deliverables on GitHub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✓ oof_multimodal.csv: </a:t>
            </a:r>
            <a:r>
              <a:rPr sz="1050">
                <a:solidFill>
                  <a:srgbClr val="FFFFFF"/>
                </a:solidFill>
              </a:rPr>
              <a:t>949 patient records with CXR risk score, multimodal predicted probability, and binary classification.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✓ multimodal_benchmark_comparison.csv: </a:t>
            </a:r>
            <a:r>
              <a:rPr sz="1050">
                <a:solidFill>
                  <a:srgbClr val="FFFFFF"/>
                </a:solidFill>
              </a:rPr>
              <a:t>Complete 5-pipeline benchmark table (Pure CXR, Clinical alone, Linear, Gradient Boosting, Ensemble).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✓ train_test_split.csv &amp; test_set.csv: </a:t>
            </a:r>
            <a:r>
              <a:rPr sz="1050">
                <a:solidFill>
                  <a:srgbClr val="FFFFFF"/>
                </a:solidFill>
              </a:rPr>
              <a:t>Strict 80/20 train-test splits (Folds 1-4 train N=760, Fold 5 test N=189) with 0 patient leakage.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✓ oof_all_cxrs.csv &amp; oof_no_hazy.csv: </a:t>
            </a:r>
            <a:r>
              <a:rPr sz="1050">
                <a:solidFill>
                  <a:srgbClr val="FFFFFF"/>
                </a:solidFill>
              </a:rPr>
              <a:t>Raw image CNN out-of-fold predictions across All CXRs (N=949) vs No Hazy (N=938).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✓ HIPAA Compliant: </a:t>
            </a:r>
            <a:r>
              <a:rPr sz="1050">
                <a:solidFill>
                  <a:srgbClr val="FFFFFF"/>
                </a:solidFill>
              </a:rPr>
              <a:t>Zero raw patient radiographs or DICOM binaries stored in git.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PRESENTATION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Key Takeaways &amp; Quantifiable Progress Summary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800" b="1">
                <a:solidFill>
                  <a:srgbClr val="38BDF8"/>
                </a:solidFill>
              </a:defRPr>
            </a:pPr>
            <a:r>
              <a:t>Summary of Progress &amp; Improvements (Thursday, October 29, 2026)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34D399"/>
                </a:solidFill>
              </a:rPr>
              <a:t>★ Major AUROC Leap (+0.2667 Gain): </a:t>
            </a:r>
            <a:r>
              <a:rPr sz="1150">
                <a:solidFill>
                  <a:srgbClr val="FFFFFF"/>
                </a:solidFill>
              </a:rPr>
              <a:t>By converting radiographs into an independent thoracic biomarker and fusing with clinical covariates, model discrimination surged from an initial 0.6401 (CXR alone) to 0.9068 AUROC (AUPRC: 0.8196).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34D399"/>
                </a:solidFill>
              </a:rPr>
              <a:t>★ Dramatic Recall Improvement (+18.6%): </a:t>
            </a:r>
            <a:r>
              <a:rPr sz="1150">
                <a:solidFill>
                  <a:srgbClr val="FFFFFF"/>
                </a:solidFill>
              </a:rPr>
              <a:t>Tuning the clinical decision threshold to τ = 0.40 drove sensitivity from 62.21% to 80.78%, catching 57 additional undiagnosed diabetics and cutting missed cases from 116 down to 59.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34D399"/>
                </a:solidFill>
              </a:rPr>
              <a:t>★ 59.2% False Alarm Reduction: </a:t>
            </a:r>
            <a:r>
              <a:rPr sz="1150">
                <a:solidFill>
                  <a:srgbClr val="FFFFFF"/>
                </a:solidFill>
              </a:rPr>
              <a:t>False positives dropped drastically from 260 in Pure CXR down to 106 in the multimodal screener, maintaining a strong 83.49% specificity and sparing hundreds of patients unnecessary stress.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34D399"/>
                </a:solidFill>
              </a:rPr>
              <a:t>★ Ablation &amp; Modeling Insights: </a:t>
            </a:r>
            <a:r>
              <a:rPr sz="1150">
                <a:solidFill>
                  <a:srgbClr val="FFFFFF"/>
                </a:solidFill>
              </a:rPr>
              <a:t>Supervised scratch CNN beat foundation ViT RAD-DINO (0.6401 vs 0.5734 AUROC), and preserving clinical blur proved vital (dropping hazy images hurt recall by 7.5%).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34D399"/>
                </a:solidFill>
              </a:rPr>
              <a:t>★ Healthcare Screening Impact: </a:t>
            </a:r>
            <a:r>
              <a:rPr sz="1150">
                <a:solidFill>
                  <a:srgbClr val="FFFFFF"/>
                </a:solidFill>
              </a:rPr>
              <a:t>Over 80% of undiagnosed diabetics can now be reliably flagged during routine chest radiography at zero incremental patient burden, prompting early, life-saving HbA1c confirmatory lab testing.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