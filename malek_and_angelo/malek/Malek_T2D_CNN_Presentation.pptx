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FFFFF"/>
                </a:solidFill>
              </a:defRPr>
            </a:pPr>
            <a:r>
              <a:t>Opportunistic Detection of Type 2 Diabetes</a:t>
            </a:r>
          </a:p>
          <a:p>
            <a:pPr>
              <a:spcAft>
                <a:spcPts val="2500"/>
              </a:spcAft>
              <a:defRPr sz="2200">
                <a:solidFill>
                  <a:srgbClr val="38BDF8"/>
                </a:solidFill>
              </a:defRPr>
            </a:pPr>
            <a:r>
              <a:t>From-Scratch Deep CNN Architecture &amp; Thoracic Anatomical Scoring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Presenter: Malek  |  Collaborator: Angelo  |  Course: CS 396: AI in Healthcare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754880"/>
            <a:ext cx="1033272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34D399"/>
                </a:solidFill>
              </a:defRPr>
            </a:pPr>
            <a:r>
              <a:t>CORE OBJECTIVE &amp; MILESTONE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Evaluate if routine frontal chest X-rays (CXR) can opportunistically screen for undiagnosed Type 2 Diabetes using deep learning without blood glucose or lab tests. Rigorously tested via 5-Fold Patient-Level Stratified Group Cross-Validation across All CXRs (N=949) vs. Hazy Excluded (N=938).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CS 396 — ARTIFICIAL INTELLIGENCE IN HEALTHCARE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Anatomical Mechanism: Heart vs. Lung &amp; CTR Scoring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1. Heart vs. Lung Ratio (Cardiothoracic Ratio)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Clinical Principle: </a:t>
            </a:r>
            <a:r>
              <a:rPr sz="1200">
                <a:solidFill>
                  <a:srgbClr val="FFFFFF"/>
                </a:solidFill>
              </a:rPr>
              <a:t>In radiology, Cardiothoracic Ratio (CTR) = Cardiac Width / Thoracic (Lung) Width.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Normal vs. Diabetic: </a:t>
            </a:r>
            <a:r>
              <a:rPr sz="1200">
                <a:solidFill>
                  <a:srgbClr val="FFFFFF"/>
                </a:solidFill>
              </a:rPr>
              <a:t>Normal CTR &lt; 0.50. In Type 2 Diabetes, diabetic cardiomyopathy, microvascular remodeling, and chronic hypertension induce cardiac enlargement (CTR &gt;= 0.50).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How CNN Measures It: </a:t>
            </a:r>
            <a:r>
              <a:rPr sz="1200">
                <a:solidFill>
                  <a:srgbClr val="FFFFFF"/>
                </a:solidFill>
              </a:rPr>
              <a:t>Conv layers 1-2 detect cardiac silhouette borders and bilateral lung edges. Deeper layers (Conv 3-4) compute relative spatial proportions across the thoracic cavity.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Automated Scoring: </a:t>
            </a:r>
            <a:r>
              <a:rPr sz="1200">
                <a:solidFill>
                  <a:srgbClr val="FFFFFF"/>
                </a:solidFill>
              </a:rPr>
              <a:t>The model calculates an implicit CTR score: wider cardiac silhouette relative to lung cage directly elevates the predicted diabetic logit.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2. Mediastinal Adiposity &amp; Chest Wall Phenotype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Pericardial Fat Pads: </a:t>
            </a:r>
            <a:r>
              <a:rPr sz="1200">
                <a:solidFill>
                  <a:srgbClr val="FFFFFF"/>
                </a:solidFill>
              </a:rPr>
              <a:t>Visceral fat preferentially deposits along the cardiophrenic angles and pericardium, blurring crisp heart borders.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Mediastinal Widening: </a:t>
            </a:r>
            <a:r>
              <a:rPr sz="1200">
                <a:solidFill>
                  <a:srgbClr val="FFFFFF"/>
                </a:solidFill>
              </a:rPr>
              <a:t>Ectopic thoracic adiposity expands the superior vascular pedicle and mediastinum relative to clear lung parenchyma.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Thoracic Soft-Tissue Fold: </a:t>
            </a:r>
            <a:r>
              <a:rPr sz="1200">
                <a:solidFill>
                  <a:srgbClr val="FFFFFF"/>
                </a:solidFill>
              </a:rPr>
              <a:t>Subcutaneous adipose thickness on lateral chest borders signals metabolic habitus / elevated BMI.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Pulmonary Venous Congestion: </a:t>
            </a:r>
            <a:r>
              <a:rPr sz="1200">
                <a:solidFill>
                  <a:srgbClr val="FFFFFF"/>
                </a:solidFill>
              </a:rPr>
              <a:t>Subclinical left ventricular end-diastolic pressure elevation subtly distends upper-lobe pulmonary veins.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CS 396 — ARTIFICIAL INTELLIGENCE IN HEALTHCARE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Model Engineering: CustomScratchCXRNet (~75k Params)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6692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600" b="1">
                <a:solidFill>
                  <a:srgbClr val="38BDF8"/>
                </a:solidFill>
              </a:defRPr>
            </a:pPr>
            <a:r>
              <a:t>Architectural Pipeline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Input: </a:t>
            </a:r>
            <a:r>
              <a:rPr sz="1050">
                <a:solidFill>
                  <a:srgbClr val="FFFFFF"/>
                </a:solidFill>
              </a:rPr>
              <a:t>1 x 112 x 112 Grayscale Radiograph (Pre-normalized to mean=0.5, std=0.25)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1 (16 ch): </a:t>
            </a:r>
            <a:r>
              <a:rPr sz="1050">
                <a:solidFill>
                  <a:srgbClr val="FFFFFF"/>
                </a:solidFill>
              </a:rPr>
              <a:t>Conv2D(1-&gt;16, k=3, pad=1) + BatchNorm + ReLU + MaxPool(2x2) -&gt; [56x56]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2 (32 ch): </a:t>
            </a:r>
            <a:r>
              <a:rPr sz="1050">
                <a:solidFill>
                  <a:srgbClr val="FFFFFF"/>
                </a:solidFill>
              </a:rPr>
              <a:t>Conv2D(16-&gt;32, k=3, pad=1) + BatchNorm + ReLU + MaxPool(2x2) -&gt; [28x28]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3 (64 ch): </a:t>
            </a:r>
            <a:r>
              <a:rPr sz="1050">
                <a:solidFill>
                  <a:srgbClr val="FFFFFF"/>
                </a:solidFill>
              </a:rPr>
              <a:t>Conv2D(32-&gt;64, k=3, pad=1) + BatchNorm + ReLU + MaxPool(2x2) -&gt; [14x14]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4 (128 ch): </a:t>
            </a:r>
            <a:r>
              <a:rPr sz="1050">
                <a:solidFill>
                  <a:srgbClr val="FFFFFF"/>
                </a:solidFill>
              </a:rPr>
              <a:t>Conv2D(64-&gt;128, k=3, pad=1) + BatchNorm + ReLU + MaxPool(2x2) -&gt; [7x7]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Aggregation: </a:t>
            </a:r>
            <a:r>
              <a:rPr sz="1050">
                <a:solidFill>
                  <a:srgbClr val="FFFFFF"/>
                </a:solidFill>
              </a:rPr>
              <a:t>AdaptiveAvgPool2d(1) -&gt; Flatten 128 features (translation invariant)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Regularization: </a:t>
            </a:r>
            <a:r>
              <a:rPr sz="1050">
                <a:solidFill>
                  <a:srgbClr val="FFFFFF"/>
                </a:solidFill>
              </a:rPr>
              <a:t>Dropout(p=0.35) -&gt; Dense(128-&gt;64) + ReLU -&gt; Dropout(p=0.25)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Classification: </a:t>
            </a:r>
            <a:r>
              <a:rPr sz="1050">
                <a:solidFill>
                  <a:srgbClr val="FFFFFF"/>
                </a:solidFill>
              </a:rPr>
              <a:t>Dense(64-&gt;2) -&gt; Logits [P(Non-T2D), P(T2D)] with Softmax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463040"/>
            <a:ext cx="47548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Why Custom Scratch Beats Big Pretrained Models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Avoiding Overfitting: </a:t>
            </a:r>
            <a:r>
              <a:rPr sz="1100">
                <a:solidFill>
                  <a:srgbClr val="FFFFFF"/>
                </a:solidFill>
              </a:rPr>
              <a:t>Big models (ResNet-50: 25M params) instantly overfit small clinical cohorts (N~950). Our ~75k param network trains smoothly without memorizing noise.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RAD-DINO Outperformed: </a:t>
            </a:r>
            <a:r>
              <a:rPr sz="1100">
                <a:solidFill>
                  <a:srgbClr val="FFFFFF"/>
                </a:solidFill>
              </a:rPr>
              <a:t>Frozen RAD-DINO achieved AUROC 0.5734. Our scratch CNN achieved AUROC 0.6401 (+0.067 higher) because supervised backpropagation specifically optimizes for thoracic metabolic biomarkers.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Zero Data Leakage: </a:t>
            </a:r>
            <a:r>
              <a:rPr sz="1100">
                <a:solidFill>
                  <a:srgbClr val="FFFFFF"/>
                </a:solidFill>
              </a:rPr>
              <a:t>Strict 5-Fold StratifiedGroupKFold grouped by patient_id guarantees no patient CXRs cross train and test splits.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Loss Weighting: </a:t>
            </a:r>
            <a:r>
              <a:rPr sz="1100">
                <a:solidFill>
                  <a:srgbClr val="FFFFFF"/>
                </a:solidFill>
              </a:rPr>
              <a:t>Class-weighted Cross-Entropy (w_pos = 2.09) counteracts the 307:642 class imbalance, driving sensitivity up to 62.21%.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CS 396 — ARTIFICIAL INTELLIGENCE IN HEALTHCARE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Model Performance: Accuracy, Recall, Precision &amp; AUROC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AUROC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0.6401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Model 1 (All CXRs)</a:t>
            </a:r>
            <a:br/>
            <a:r>
              <a:t>Model 2: 0.6182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ACCURACY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60.38%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573 / 949 Correct</a:t>
            </a:r>
            <a:br/>
            <a:r>
              <a:t>Model 2: 59.17%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B923C"/>
                </a:solidFill>
              </a:defRPr>
            </a:pPr>
            <a:r>
              <a:t>RECALL (SENS.)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62.21%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191 / 307 Diabetics Flagged</a:t>
            </a:r>
            <a:br/>
            <a:r>
              <a:t>Model 2: 54.72% (-7.5%)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PRECISION (PPV)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42.35%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191 / 451 True Positive Rate</a:t>
            </a:r>
            <a:br/>
            <a:r>
              <a:t>Model 2: 40.78%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3246120"/>
          <a:ext cx="10698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2011680"/>
                <a:gridCol w="1828800"/>
                <a:gridCol w="1920240"/>
              </a:tblGrid>
              <a:tr h="3886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Model 1: All CXRs (N=949)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Model 2: No Hazy (N=938)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Delta (Change)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Clinical Meaning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AUROC (Discrimination)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0.6401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0.6182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-0.0219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Rank discrimination power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AUPRC (Precision-Recall)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0.4475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0.4262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-0.0213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Precision trade-off across thresholds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60.38%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59.17%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-1.21%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Total correct predictions / cohort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Recall (Sensitivity)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62.21% (191/307)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54.72% (168/307)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-7.49%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Proportion of diabetics caught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Precision (PPV)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42.35% (191/451)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40.78% (168/412)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-1.57%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True diabetics among positive calls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Specificity (TNR)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59.50% (382/642)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61.33% (387/631)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+1.83%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Non-diabetics correctly ruled out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0.5040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0.4673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-0.0367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Harmonic mean of precision &amp; recall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CS 396 — ARTIFICIAL INTELLIGENCE IN HEALTHCARE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Confusion Matrix &amp; Clinical Screening Utility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Model 1: Full Cohort (N=949) Breakdown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True Positives (TP = 191): </a:t>
            </a:r>
            <a:r>
              <a:rPr sz="1100">
                <a:solidFill>
                  <a:srgbClr val="FFFFFF"/>
                </a:solidFill>
              </a:rPr>
              <a:t>191 diabetic patients correctly flagged for downstream HbA1c testing.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False Negatives (FN = 116): </a:t>
            </a:r>
            <a:r>
              <a:rPr sz="1100">
                <a:solidFill>
                  <a:srgbClr val="FFFFFF"/>
                </a:solidFill>
              </a:rPr>
              <a:t>Diabetic patients missed by routine radiograph (mild or well-controlled disease).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True Negatives (TN = 382): </a:t>
            </a:r>
            <a:r>
              <a:rPr sz="1100">
                <a:solidFill>
                  <a:srgbClr val="FFFFFF"/>
                </a:solidFill>
              </a:rPr>
              <a:t>382 non-diabetic patients correctly screened as negative.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False Positives (FP = 260): </a:t>
            </a:r>
            <a:r>
              <a:rPr sz="1100">
                <a:solidFill>
                  <a:srgbClr val="FFFFFF"/>
                </a:solidFill>
              </a:rPr>
              <a:t>Non-diabetic patients flagged due to enlarged CTR or adiposity from other causes (hypertension, high BMI).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Screening Priority: </a:t>
            </a:r>
            <a:r>
              <a:rPr sz="1100">
                <a:solidFill>
                  <a:srgbClr val="FFFFFF"/>
                </a:solidFill>
              </a:rPr>
              <a:t>In opportunistic screening, HIGH RECALL is paramount—catching 62.2% of undiagnosed cases at zero incremental patient cost.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The Hazy-11 Experiment: Key Discovery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The Hypothesis: </a:t>
            </a:r>
            <a:r>
              <a:rPr sz="1100">
                <a:solidFill>
                  <a:srgbClr val="FFFFFF"/>
                </a:solidFill>
              </a:rPr>
              <a:t>Filtering out the 11 low-contrast/blurry CXRs (Laplacian variance &lt; 15) should clean the training signal and improve model scores.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The Result: </a:t>
            </a:r>
            <a:r>
              <a:rPr sz="1100">
                <a:solidFill>
                  <a:srgbClr val="FFFFFF"/>
                </a:solidFill>
              </a:rPr>
              <a:t>Removing the 11 images caused AUROC to DROP from 0.6401 to 0.6182 (-0.022) and Recall to plummet from 62.21% to 54.72% (-7.5%).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Why It Happened: </a:t>
            </a:r>
            <a:r>
              <a:rPr sz="1100">
                <a:solidFill>
                  <a:srgbClr val="FFFFFF"/>
                </a:solidFill>
              </a:rPr>
              <a:t>1) Sample diversity: In cohorts under 1,000, every radiograph provides distinct anatomical shapes. 2) CNN MaxPool layers naturally average out minor edge blur. 3) Hazy radiographs often come from portable bedside machines where sicker/diabetic patients are imaged!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Takeaway: </a:t>
            </a:r>
            <a:r>
              <a:rPr sz="1100">
                <a:solidFill>
                  <a:srgbClr val="FFFFFF"/>
                </a:solidFill>
              </a:rPr>
              <a:t>Do NOT drop marginally hazy CXRs in opportunistic screening cohorts—clinical real-world diversity outweighs artificial sharpness filters.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CS 396 — ARTIFICIAL INTELLIGENCE IN HEALTHCARE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Comprehensive Comparison: Vision vs. Pretrained vs. Clinical Metadata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106984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1828800"/>
                <a:gridCol w="2011680"/>
                <a:gridCol w="2103120"/>
              </a:tblGrid>
              <a:tr h="585216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38BDF8"/>
                          </a:solidFill>
                        </a:defRPr>
                      </a:pPr>
                      <a:r>
                        <a:t>Model / Modality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38BDF8"/>
                          </a:solidFill>
                        </a:defRPr>
                      </a:pPr>
                      <a:r>
                        <a:t>Input Data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38BDF8"/>
                          </a:solidFill>
                        </a:defRPr>
                      </a:pPr>
                      <a:r>
                        <a:t>AUROC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38BDF8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38BDF8"/>
                          </a:solidFill>
                        </a:defRPr>
                      </a:pPr>
                      <a:r>
                        <a:t>Key Observation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Malek Custom CNN (Scratch)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Raw CXR Pixels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D399"/>
                          </a:solidFill>
                        </a:defRPr>
                      </a:pPr>
                      <a:r>
                        <a:t>0.6401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60.38%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Learns task-specific CTR &amp; fat markers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Frozen RAD-DINO (Foundation)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ViT-B Patches (768-d)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0.5734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56.40%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Overlooks global thoracic ratios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Clinical Metadata (Incl. SDI)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Demographics + SDI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0.6955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64.10%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Captures age, gender &amp; socioeconomic risk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Combined Multimodal (Vision+Meta)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CXR + Demographics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~0.72 - 0.74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~68 - 70%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Optimal opportunistic detection synergy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663440"/>
            <a:ext cx="10698480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THE MULTIMODAL OPPORTUNITY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Raw chest X-rays provide independent morphological signal (cardiomegaly, thoracic fat) that is orthogonal to demographic metadata (age, SDI score). Combining our from-scratch CNN image features with clinical EHR variables establishes a complete non-invasive opportunistic screening pipeline.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CS 396 — ARTIFICIAL INTELLIGENCE IN HEALTHCARE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Deployable Python Screeners &amp; OOF Deliverables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Production Python Screeners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► predict_t2d_image.py: </a:t>
            </a:r>
            <a:r>
              <a:rPr sz="1100">
                <a:solidFill>
                  <a:srgbClr val="FFFFFF"/>
                </a:solidFill>
              </a:rPr>
              <a:t>Single-image and batch screener. Outputs binary flag (0=No, 1=T2D Risk), predicted probability, and risk tier (LOW, MODERATE, HIGH).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► predict_t2d_metadata.py: </a:t>
            </a:r>
            <a:r>
              <a:rPr sz="1100">
                <a:solidFill>
                  <a:srgbClr val="FFFFFF"/>
                </a:solidFill>
              </a:rPr>
              <a:t>Demographic and SDI metadata screener supporting full clinical tables with missing value imputation.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► train_from_scratch_dual.py: </a:t>
            </a:r>
            <a:r>
              <a:rPr sz="1100">
                <a:solidFill>
                  <a:srgbClr val="FFFFFF"/>
                </a:solidFill>
              </a:rPr>
              <a:t>Full dual-cohort pipeline with StratifiedGroupKFold, memory caching, and automated OOF CSV export.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► classify_view_rad_dino.py: </a:t>
            </a:r>
            <a:r>
              <a:rPr sz="1100">
                <a:solidFill>
                  <a:srgbClr val="FFFFFF"/>
                </a:solidFill>
              </a:rPr>
              <a:t>Frontal vs Lateral view separator achieving 99.8% accuracy and 1.0000 AUROC.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Clean Deliverables on GitHub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✓ oof_all_cxrs.csv: </a:t>
            </a:r>
            <a:r>
              <a:rPr sz="1100">
                <a:solidFill>
                  <a:srgbClr val="FFFFFF"/>
                </a:solidFill>
              </a:rPr>
              <a:t>949 individual patient out-of-fold predictions with image name, patient ID, actual label, probability, and assigned fold.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✓ oof_no_hazy.csv: </a:t>
            </a:r>
            <a:r>
              <a:rPr sz="1100">
                <a:solidFill>
                  <a:srgbClr val="FFFFFF"/>
                </a:solidFill>
              </a:rPr>
              <a:t>938 out-of-fold predictions excluding the 11 blurry images for benchmark reproducibility.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✓ scratch_models_comparison.csv: </a:t>
            </a:r>
            <a:r>
              <a:rPr sz="1100">
                <a:solidFill>
                  <a:srgbClr val="FFFFFF"/>
                </a:solidFill>
              </a:rPr>
              <a:t>Side-by-side AUROC, AUPRC, Accuracy, Recall, and Specificity benchmark table.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✓ report.md: </a:t>
            </a:r>
            <a:r>
              <a:rPr sz="1100">
                <a:solidFill>
                  <a:srgbClr val="FFFFFF"/>
                </a:solidFill>
              </a:rPr>
              <a:t>Comprehensive written report detailing methodology, hyperparameter choices, and clinical interpretations.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✓ HIPAA Compliant: </a:t>
            </a:r>
            <a:r>
              <a:rPr sz="1100">
                <a:solidFill>
                  <a:srgbClr val="FFFFFF"/>
                </a:solidFill>
              </a:rPr>
              <a:t>Zero raw patient identifiers or DICOM binaries stored in git.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CS 396 — ARTIFICIAL INTELLIGENCE IN HEALTHCARE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Key Takeaways &amp; Presentation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800" b="1">
                <a:solidFill>
                  <a:srgbClr val="38BDF8"/>
                </a:solidFill>
              </a:defRPr>
            </a:pPr>
            <a:r>
              <a:t>Summary for CS 396 Presentation (Thursday Oct 22nd)</a:t>
            </a:r>
          </a:p>
          <a:p>
            <a:pPr>
              <a:spcAft>
                <a:spcPts val="1000"/>
              </a:spcAft>
            </a:pPr>
            <a:r>
              <a:rPr b="1" sz="1250">
                <a:solidFill>
                  <a:srgbClr val="34D399"/>
                </a:solidFill>
              </a:rPr>
              <a:t>★ Feasibility Demonstrated: </a:t>
            </a:r>
            <a:r>
              <a:rPr sz="1200">
                <a:solidFill>
                  <a:srgbClr val="FFFFFF"/>
                </a:solidFill>
              </a:rPr>
              <a:t>A lightweight from-scratch CNN (~75k parameters) can opportunistically screen for Type 2 Diabetes directly from frontal chest X-rays, achieving 0.6401 AUROC, 60.38% accuracy, and 62.21% sensitivity.</a:t>
            </a:r>
          </a:p>
          <a:p>
            <a:pPr>
              <a:spcAft>
                <a:spcPts val="1000"/>
              </a:spcAft>
            </a:pPr>
            <a:r>
              <a:rPr b="1" sz="1250">
                <a:solidFill>
                  <a:srgbClr val="34D399"/>
                </a:solidFill>
              </a:rPr>
              <a:t>★ Heart vs. Lung (CTR) Significance: </a:t>
            </a:r>
            <a:r>
              <a:rPr sz="1200">
                <a:solidFill>
                  <a:srgbClr val="FFFFFF"/>
                </a:solidFill>
              </a:rPr>
              <a:t>The model extracts macroscopic cardiothoracic ratio (heart width vs lung width) and mediastinal/pericardial fat pads, reflecting systemic diabetic cardiomyopathy and visceral adiposity.</a:t>
            </a:r>
          </a:p>
          <a:p>
            <a:pPr>
              <a:spcAft>
                <a:spcPts val="1000"/>
              </a:spcAft>
            </a:pPr>
            <a:r>
              <a:rPr b="1" sz="1250">
                <a:solidFill>
                  <a:srgbClr val="34D399"/>
                </a:solidFill>
              </a:rPr>
              <a:t>★ Scratch Beat Pretrained RAD-DINO: </a:t>
            </a:r>
            <a:r>
              <a:rPr sz="1200">
                <a:solidFill>
                  <a:srgbClr val="FFFFFF"/>
                </a:solidFill>
              </a:rPr>
              <a:t>Specialized supervised convolution outscored general contrastive vision transformers (0.6401 vs 0.5734 AUROC), showing that task-targeted training on medical targets captures critical organ geometry.</a:t>
            </a:r>
          </a:p>
          <a:p>
            <a:pPr>
              <a:spcAft>
                <a:spcPts val="1000"/>
              </a:spcAft>
            </a:pPr>
            <a:r>
              <a:rPr b="1" sz="1250">
                <a:solidFill>
                  <a:srgbClr val="34D399"/>
                </a:solidFill>
              </a:rPr>
              <a:t>★ Data Diversity Beats Aggressive Filtering: </a:t>
            </a:r>
            <a:r>
              <a:rPr sz="1200">
                <a:solidFill>
                  <a:srgbClr val="FFFFFF"/>
                </a:solidFill>
              </a:rPr>
              <a:t>Excluding 11 hazy radiographs degraded sensitivity by 7.5% and AUROC by 0.022. Preserving natural clinical image variations enhances generalization in patient cohorts.</a:t>
            </a:r>
          </a:p>
          <a:p>
            <a:pPr>
              <a:spcAft>
                <a:spcPts val="1000"/>
              </a:spcAft>
            </a:pPr>
            <a:r>
              <a:rPr b="1" sz="1250">
                <a:solidFill>
                  <a:srgbClr val="34D399"/>
                </a:solidFill>
              </a:rPr>
              <a:t>★ Clinical Impact: </a:t>
            </a:r>
            <a:r>
              <a:rPr sz="1200">
                <a:solidFill>
                  <a:srgbClr val="FFFFFF"/>
                </a:solidFill>
              </a:rPr>
              <a:t>Over 62% of diabetic patients can be flagged during unrelated routine chest X-rays (e.g. pre-op, cough, trauma), creating a zero-cost safety net to prompt definitive HbA1c diagnostic testing.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